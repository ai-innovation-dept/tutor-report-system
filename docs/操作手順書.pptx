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4000" b="1">
                <a:solidFill>
                  <a:srgbClr val="1F3A5F"/>
                </a:solidFill>
                <a:latin typeface="Meiryo"/>
                <a:ea typeface="Meiryo"/>
                <a:cs typeface="Meiryo"/>
              </a:rPr>
              <a:t>指導実績報告システム</a:t>
            </a: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475569"/>
                </a:solidFill>
                <a:latin typeface="Meiryo"/>
                <a:ea typeface="Meiryo"/>
                <a:cs typeface="Meiryo"/>
              </a:rPr>
              <a:t>操作手順書（プロトタイプお試し版）</a:t>
            </a:r>
          </a:p>
          <a:p>
            <a:pPr algn="ctr">
              <a:spcAft>
                <a:spcPts val="500"/>
              </a:spcAft>
            </a:pPr>
            <a:r>
              <a:rPr sz="1400" b="0">
                <a:solidFill>
                  <a:srgbClr val="475569"/>
                </a:solidFill>
                <a:latin typeface="Meiryo"/>
                <a:ea typeface="Meiryo"/>
                <a:cs typeface="Meiryo"/>
              </a:rPr>
              <a:t>はじめての方でも、この手順どおりに進めれば一人で操作できます。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ctr"/>
            <a:r>
              <a:rPr sz="2200" b="1">
                <a:solidFill>
                  <a:srgbClr val="93C5FD"/>
                </a:solidFill>
                <a:latin typeface="Meiryo"/>
                <a:ea typeface="Meiryo"/>
                <a:cs typeface="Meiryo"/>
              </a:rPr>
              <a:t>0　</a:t>
            </a:r>
            <a:r>
              <a:rPr sz="2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はじめに（このシステムでできること）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先生（講師）が毎月の指導内容を記録し、保護者と運営スタッフが順番に確認・承認していくシステムです。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3736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6868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3A5F"/>
                          </a:solidFill>
                          <a:latin typeface="Meiryo"/>
                          <a:ea typeface="Meiryo"/>
                          <a:cs typeface="Meiryo"/>
                        </a:rPr>
                        <a:t>役割</a:t>
                      </a:r>
                    </a:p>
                  </a:txBody>
                  <a:tcPr marL="73152" marR="54864" marT="27432" marB="27432" anchor="ctr">
                    <a:solidFill>
                      <a:srgbClr val="E8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3A5F"/>
                          </a:solidFill>
                          <a:latin typeface="Meiryo"/>
                          <a:ea typeface="Meiryo"/>
                          <a:cs typeface="Meiryo"/>
                        </a:rPr>
                        <a:t>おもな役目</a:t>
                      </a:r>
                    </a:p>
                  </a:txBody>
                  <a:tcPr marL="73152" marR="54864" marT="27432" marB="27432" anchor="ctr">
                    <a:solidFill>
                      <a:srgbClr val="E8EE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管理者／管理責任者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利用者（アカウント）の作成や、講師・保護者・生徒の紐づけを管理します。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講師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指導した内容の報告書を作成し、保護者へ承認をお願いします。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保護者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わが子の報告書を確認し、承認（または差戻し）します。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受付 → 再鑑 → 管理者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運営スタッフが3段階で内容を確認・承認します。修正できるのは受付だけです。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2976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2563EB"/>
                </a:solidFill>
                <a:latin typeface="Meiryo"/>
                <a:ea typeface="Meiryo"/>
                <a:cs typeface="Meiryo"/>
              </a:rPr>
              <a:t>ヒント：自分がどの役割かは、ログイン後に画面左のメニュー（ダッシュボード／報告書一覧／承認管理 など）で分かります。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ctr"/>
            <a:r>
              <a:rPr sz="2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全体の流れ と ログイン方法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51560"/>
            <a:ext cx="15544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2563EB"/>
                </a:solidFill>
                <a:latin typeface="Meiryo"/>
                <a:ea typeface="Meiryo"/>
                <a:cs typeface="Meiryo"/>
              </a:rPr>
              <a:t>講師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報告書を作成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039112" y="1444752"/>
            <a:ext cx="347472" cy="219456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368296" y="1051560"/>
            <a:ext cx="15544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2563EB"/>
                </a:solidFill>
                <a:latin typeface="Meiryo"/>
                <a:ea typeface="Meiryo"/>
                <a:cs typeface="Meiryo"/>
              </a:rPr>
              <a:t>講師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保護者へ承認依頼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904488" y="1444752"/>
            <a:ext cx="347472" cy="219456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33672" y="1051560"/>
            <a:ext cx="15544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5803D"/>
                </a:solidFill>
                <a:latin typeface="Meiryo"/>
                <a:ea typeface="Meiryo"/>
                <a:cs typeface="Meiryo"/>
              </a:rPr>
              <a:t>保護者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承認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769864" y="1444752"/>
            <a:ext cx="347472" cy="219456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99048" y="1051560"/>
            <a:ext cx="15544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3A5F"/>
                </a:solidFill>
                <a:latin typeface="Meiryo"/>
                <a:ea typeface="Meiryo"/>
                <a:cs typeface="Meiryo"/>
              </a:rPr>
              <a:t>受付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受付承認(修正可)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635240" y="1444752"/>
            <a:ext cx="347472" cy="219456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964424" y="1051560"/>
            <a:ext cx="15544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3A5F"/>
                </a:solidFill>
                <a:latin typeface="Meiryo"/>
                <a:ea typeface="Meiryo"/>
                <a:cs typeface="Meiryo"/>
              </a:rPr>
              <a:t>再鑑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再鑑承認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500616" y="1444752"/>
            <a:ext cx="347472" cy="219456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829800" y="1051560"/>
            <a:ext cx="15544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3A5F"/>
                </a:solidFill>
                <a:latin typeface="Meiryo"/>
                <a:ea typeface="Meiryo"/>
                <a:cs typeface="Meiryo"/>
              </a:rPr>
              <a:t>管理者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最終承認→完了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194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B91C1C"/>
                </a:solidFill>
                <a:latin typeface="Meiryo"/>
                <a:ea typeface="Meiryo"/>
                <a:cs typeface="Meiryo"/>
              </a:rPr>
              <a:t>※ どの段階でも「差戻し」で前の人に戻せます（差戻しには理由コメントが必要）。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8328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F3A5F"/>
                </a:solidFill>
                <a:latin typeface="Meiryo"/>
                <a:ea typeface="Meiryo"/>
                <a:cs typeface="Meiryo"/>
              </a:rPr>
              <a:t>● ログインのしかた（全員共通）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1. ブラウザ（Chromeなど）で、ご案内されたURLを開きます（例：http://52.197.43.164:8000）。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2. 「メールアドレス」と「パスワード」を入力します。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3. 「ログイン」ボタンを押します。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Meiryo"/>
                <a:ea typeface="Meiryo"/>
                <a:cs typeface="Meiryo"/>
              </a:rPr>
              <a:t>ヒント：お試し用アカウントは最後のページの一覧をご覧ください（パスワードは共通で Passw0rd!）。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ctr"/>
            <a:r>
              <a:rPr sz="2200" b="1">
                <a:solidFill>
                  <a:srgbClr val="93C5FD"/>
                </a:solidFill>
                <a:latin typeface="Meiryo"/>
                <a:ea typeface="Meiryo"/>
                <a:cs typeface="Meiryo"/>
              </a:rPr>
              <a:t>1　</a:t>
            </a:r>
            <a:r>
              <a:rPr sz="2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ユーザ（アカウント）を作成する　※管理者の操作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新しく講師・保護者・運営スタッフを使えるようにするには、まず管理者がアカウントを「招待」します。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1. 管理者でログインし、左メニューの「ユーザー管理」を開きます。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2. 「新規ユーザー登録」で、作りたい役割（講師／保護者／受付／再鑑／管理者）を選びます。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3. 講師・運営スタッフ → 「氏名」と「メールアドレス」を入力します。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4. 保護者 → 「担当講師」を選び、「生徒名」と「メールアドレス」を入力します。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5. 「招待メールを送る」を押すと、相手に登録用のメールが届きます。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6. メールを受け取った本人がリンクを開き、パスワードを設定すると登録完了です。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Meiryo"/>
                <a:ea typeface="Meiryo"/>
                <a:cs typeface="Meiryo"/>
              </a:rPr>
              <a:t>注意：招待リンクの有効期限は72時間です。期限切れは一覧の「再送」でもう一度送れます。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Meiryo"/>
                <a:ea typeface="Meiryo"/>
                <a:cs typeface="Meiryo"/>
              </a:rPr>
              <a:t>ヒント：お試し環境では、送信メールを「メール確認画面（MailHog）」で確認できる場合があります（例：…:8025）。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ctr"/>
            <a:r>
              <a:rPr sz="2200" b="1">
                <a:solidFill>
                  <a:srgbClr val="93C5FD"/>
                </a:solidFill>
                <a:latin typeface="Meiryo"/>
                <a:ea typeface="Meiryo"/>
                <a:cs typeface="Meiryo"/>
              </a:rPr>
              <a:t>1　</a:t>
            </a:r>
            <a:r>
              <a:rPr sz="2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ユーザー詳細画面の見かた（項目の説明）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60120"/>
          <a:ext cx="112471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955279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F3A5F"/>
                          </a:solidFill>
                          <a:latin typeface="Meiryo"/>
                          <a:ea typeface="Meiryo"/>
                          <a:cs typeface="Meiryo"/>
                        </a:rPr>
                        <a:t>項目</a:t>
                      </a:r>
                    </a:p>
                  </a:txBody>
                  <a:tcPr marL="73152" marR="54864" marT="27432" marB="27432" anchor="ctr">
                    <a:solidFill>
                      <a:srgbClr val="E8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F3A5F"/>
                          </a:solidFill>
                          <a:latin typeface="Meiryo"/>
                          <a:ea typeface="Meiryo"/>
                          <a:cs typeface="Meiryo"/>
                        </a:rPr>
                        <a:t>説明</a:t>
                      </a:r>
                    </a:p>
                  </a:txBody>
                  <a:tcPr marL="73152" marR="54864" marT="27432" marB="27432" anchor="ctr">
                    <a:solidFill>
                      <a:srgbClr val="E8EE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基本情報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No（利用者番号）・名前・メール・登録日・最終ログイン日を表示します。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ロール設定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役割を表示。受付／再鑑は両方を兼ねる設定をチェックで切り替え「保存」で確定します。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担当生徒（講師の場合）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その講師が担当する生徒の一覧を表示します。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紐づく生徒（保護者の場合）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その保護者に紐づく生徒の一覧。下の欄から「保護者未設定の生徒」を選んで紐づけられます。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保護者承認をスキップ（管理責任者のみ）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ONにすると、その保護者の承認を省略して直接運営へ提出します。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状態管理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「無効化する／有効化する」で、その人の利用可否を切り替えます。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危険な操作（削除）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ユーザーを完全に削除します。確認のためメールアドレスの入力が必要です（元に戻せません）。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ctr"/>
            <a:r>
              <a:rPr sz="2200" b="1">
                <a:solidFill>
                  <a:srgbClr val="93C5FD"/>
                </a:solidFill>
                <a:latin typeface="Meiryo"/>
                <a:ea typeface="Meiryo"/>
                <a:cs typeface="Meiryo"/>
              </a:rPr>
              <a:t>2　</a:t>
            </a:r>
            <a:r>
              <a:rPr sz="2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紐づき設定（講師・保護者・生徒）　※管理者の操作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「誰の保護者の、どの生徒を、どの講師が担当するか」を結びつける設定です。これが無いと講師は承認依頼ができません。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1F3A5F"/>
                </a:solidFill>
                <a:latin typeface="Meiryo"/>
                <a:ea typeface="Meiryo"/>
                <a:cs typeface="Meiryo"/>
              </a:rPr>
              <a:t>● 基本：保護者を「担当講師＋生徒名」つきで招待 → 保護者が登録すると自動でつながります（既存保護者なら即時）。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● 後から紐づけ：ユーザー管理 → 保護者の「詳細」→「紐づく生徒」→「保護者未設定の生徒」を選んで「紐づける」。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● 担当の変更・整理は左メニューの「担当管理」で行います（下表）。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329184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3210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F3A5F"/>
                          </a:solidFill>
                          <a:latin typeface="Meiryo"/>
                          <a:ea typeface="Meiryo"/>
                          <a:cs typeface="Meiryo"/>
                        </a:rPr>
                        <a:t>担当管理でできること</a:t>
                      </a:r>
                    </a:p>
                  </a:txBody>
                  <a:tcPr marL="73152" marR="54864" marT="27432" marB="27432" anchor="ctr">
                    <a:solidFill>
                      <a:srgbClr val="E8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F3A5F"/>
                          </a:solidFill>
                          <a:latin typeface="Meiryo"/>
                          <a:ea typeface="Meiryo"/>
                          <a:cs typeface="Meiryo"/>
                        </a:rPr>
                        <a:t>説明</a:t>
                      </a:r>
                    </a:p>
                  </a:txBody>
                  <a:tcPr marL="73152" marR="54864" marT="27432" marB="27432" anchor="ctr">
                    <a:solidFill>
                      <a:srgbClr val="E8EE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講師を交代／追加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担当の先生を変更、または同じ生徒に別の講師を追加します。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保護者を変更／解除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保護者を選び直します。「未設定」で解除します。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生徒名を編集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名前の打ち間違いなどを修正します。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有効／無効・削除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使わない担当を無効化、または完全に削除します（報告書がある担当は削除不可）。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ctr"/>
            <a:r>
              <a:rPr sz="2200" b="1">
                <a:solidFill>
                  <a:srgbClr val="93C5FD"/>
                </a:solidFill>
                <a:latin typeface="Meiryo"/>
                <a:ea typeface="Meiryo"/>
                <a:cs typeface="Meiryo"/>
              </a:rPr>
              <a:t>3　</a:t>
            </a:r>
            <a:r>
              <a:rPr sz="2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講師が報告書を作成する　※講師の操作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6675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1. 講師でログインし、左メニューの「報告書一覧」を開きます。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2. 「簡易作成」で、まず対象の「生徒」を選びます。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3. 「指導日」を選びます（曜日は自動表示）。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4. 「開始時刻」「終了時刻」を選びます（5分単位）。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5. 「休憩等の時間（分）」を入れます（5分単位）。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6. 「指導時間数」は自動計算。0.5時間（30分）単位になるよう休憩で調整。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7. 「科目」「指導内容」を入力し「保存」を押します。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B45309"/>
                </a:solidFill>
                <a:latin typeface="Meiryo"/>
                <a:ea typeface="Meiryo"/>
                <a:cs typeface="Meiryo"/>
              </a:rPr>
              <a:t>注意：指導時間数が0.5時間（30分）単位でないと保存できません。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96012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475569"/>
                </a:solidFill>
                <a:latin typeface="Meiryo"/>
                <a:ea typeface="Meiryo"/>
                <a:cs typeface="Meiryo"/>
              </a:rPr>
              <a:t>［ 簡易作成（イメージ）］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475569"/>
                </a:solidFill>
                <a:latin typeface="Meiryo"/>
                <a:ea typeface="Meiryo"/>
                <a:cs typeface="Meiryo"/>
              </a:rPr>
              <a:t>生徒：[ 生徒を選択 ▼ ]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475569"/>
                </a:solidFill>
                <a:latin typeface="Meiryo"/>
                <a:ea typeface="Meiryo"/>
                <a:cs typeface="Meiryo"/>
              </a:rPr>
              <a:t>指導日：[ 2026/06/10 ]（水）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475569"/>
                </a:solidFill>
                <a:latin typeface="Meiryo"/>
                <a:ea typeface="Meiryo"/>
                <a:cs typeface="Meiryo"/>
              </a:rPr>
              <a:t>開始：[ 16:00 ] 〜 終了：[ 18:00 ]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475569"/>
                </a:solidFill>
                <a:latin typeface="Meiryo"/>
                <a:ea typeface="Meiryo"/>
                <a:cs typeface="Meiryo"/>
              </a:rPr>
              <a:t>休憩（分）：[ 0 ]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475569"/>
                </a:solidFill>
                <a:latin typeface="Meiryo"/>
                <a:ea typeface="Meiryo"/>
                <a:cs typeface="Meiryo"/>
              </a:rPr>
              <a:t>指導時間数：2時間（自動）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475569"/>
                </a:solidFill>
                <a:latin typeface="Meiryo"/>
                <a:ea typeface="Meiryo"/>
                <a:cs typeface="Meiryo"/>
              </a:rPr>
              <a:t>科目：[ 数学 ]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475569"/>
                </a:solidFill>
                <a:latin typeface="Meiryo"/>
                <a:ea typeface="Meiryo"/>
                <a:cs typeface="Meiryo"/>
              </a:rPr>
              <a:t>指導内容：[ ……… ]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475569"/>
                </a:solidFill>
                <a:latin typeface="Meiryo"/>
                <a:ea typeface="Meiryo"/>
                <a:cs typeface="Meiryo"/>
              </a:rPr>
              <a:t>［ 保存 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ctr"/>
            <a:r>
              <a:rPr sz="2200" b="1">
                <a:solidFill>
                  <a:srgbClr val="93C5FD"/>
                </a:solidFill>
                <a:latin typeface="Meiryo"/>
                <a:ea typeface="Meiryo"/>
                <a:cs typeface="Meiryo"/>
              </a:rPr>
              <a:t>4　</a:t>
            </a:r>
            <a:r>
              <a:rPr sz="2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保護者へ承認依頼する　※講師の操作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1. 講師でログインし、左メニューの「承認管理」を開きます。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2. 当月の報告書がまとまって表示されます。内容を確認します。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3. 「保護者へまとめて承認依頼」を押すと、保護者に確認のお願いが届きます。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B45309"/>
                </a:solidFill>
                <a:latin typeface="Meiryo"/>
                <a:ea typeface="Meiryo"/>
                <a:cs typeface="Meiryo"/>
              </a:rPr>
              <a:t>注意：「保護者が未設定のため承認依頼できません」と出たら、まだ生徒に保護者がついていません。手順2（紐づき設定）で保護者をつないでからお試しください。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2563EB"/>
                </a:solidFill>
                <a:latin typeface="Meiryo"/>
                <a:ea typeface="Meiryo"/>
                <a:cs typeface="Meiryo"/>
              </a:rPr>
              <a:t>ヒント：差戻された場合は、報告書を直したあと「修正済みの報告書を保護者へまとめて再依頼」で再度お願いできます。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ctr"/>
            <a:r>
              <a:rPr sz="2200" b="1">
                <a:solidFill>
                  <a:srgbClr val="93C5FD"/>
                </a:solidFill>
                <a:latin typeface="Meiryo"/>
                <a:ea typeface="Meiryo"/>
                <a:cs typeface="Meiryo"/>
              </a:rPr>
              <a:t>5　</a:t>
            </a:r>
            <a:r>
              <a:rPr sz="2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確認・承認・差戻し（保護者／運営）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3A5F"/>
                </a:solidFill>
                <a:latin typeface="Meiryo"/>
                <a:ea typeface="Meiryo"/>
                <a:cs typeface="Meiryo"/>
              </a:rPr>
              <a:t>● 保護者の操作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1. 保護者でログインし「承認管理」を開きます。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2. 「報告書を確認」で内容を見ます。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3. 問題なければ「すべて承認する」→ 確認画面で「承認は保護者本人が操作しています」にチェックして承認。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4. 直してほしいときは「差戻す」を押し、理由（コメント）を入力。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F3A5F"/>
                </a:solidFill>
                <a:latin typeface="Meiryo"/>
                <a:ea typeface="Meiryo"/>
                <a:cs typeface="Meiryo"/>
              </a:rPr>
              <a:t>● 運営スタッフの操作（受付 → 再鑑 → 管理者）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1. 「ダッシュボード」で自分の担当の報告書を「報告書を確認」で確認。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2. 問題なければ承認（受付承認／再鑑承認／最終承認）。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3. 直してほしいときは「差戻し」＋理由を入力。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4. 報告書の内容を修正できるのは「受付」だけ →「報告書の修正（受付）」→「修正して通知」。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15803D"/>
                </a:solidFill>
                <a:latin typeface="Meiryo"/>
                <a:ea typeface="Meiryo"/>
                <a:cs typeface="Meiryo"/>
              </a:rPr>
              <a:t>ポイント：承認の順番は 講師 → 保護者 → 受付 → 再鑑 → 管理者（最終）。最後まで承認されると完了です。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ctr"/>
            <a:r>
              <a:rPr sz="2200" b="1">
                <a:solidFill>
                  <a:srgbClr val="93C5FD"/>
                </a:solidFill>
                <a:latin typeface="Meiryo"/>
                <a:ea typeface="Meiryo"/>
                <a:cs typeface="Meiryo"/>
              </a:rPr>
              <a:t>5　</a:t>
            </a:r>
            <a:r>
              <a:rPr sz="2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ダッシュボードの見かた（運営）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6012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5039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F3A5F"/>
                          </a:solidFill>
                          <a:latin typeface="Meiryo"/>
                          <a:ea typeface="Meiryo"/>
                          <a:cs typeface="Meiryo"/>
                        </a:rPr>
                        <a:t>画面の要素</a:t>
                      </a:r>
                    </a:p>
                  </a:txBody>
                  <a:tcPr marL="73152" marR="54864" marT="27432" marB="27432" anchor="ctr">
                    <a:solidFill>
                      <a:srgbClr val="E8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F3A5F"/>
                          </a:solidFill>
                          <a:latin typeface="Meiryo"/>
                          <a:ea typeface="Meiryo"/>
                          <a:cs typeface="Meiryo"/>
                        </a:rPr>
                        <a:t>説明</a:t>
                      </a:r>
                    </a:p>
                  </a:txBody>
                  <a:tcPr marL="73152" marR="54864" marT="27432" marB="27432" anchor="ctr">
                    <a:solidFill>
                      <a:srgbClr val="E8EE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上部のしぼり込み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「対象月」や「講師」で表示をしぼり込めます。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状況の列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報告書が今どの段階か（受付待ち／再鑑待ち／最終承認待ち／完了 など）が列で並びます。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自分の担当タスク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自分が対応する段階の報告書に、承認ボタンと「差戻し」が表示されます。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報告書を確認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指導日・時間・科目などの内容を別画面で確認できます。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承認／差戻し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承認ボタン（受付承認／再鑑承認／最終承認）または「差戻し」を押します。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2062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B45309"/>
                </a:solidFill>
                <a:latin typeface="Meiryo"/>
                <a:ea typeface="Meiryo"/>
                <a:cs typeface="Meiryo"/>
              </a:rPr>
              <a:t>注意：公正のため、自分が「受付」した報告書は同じ人が「再鑑」できません（ボタンが押せません）。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ctr"/>
            <a:r>
              <a:rPr sz="2200" b="1">
                <a:solidFill>
                  <a:srgbClr val="93C5FD"/>
                </a:solidFill>
                <a:latin typeface="Meiryo"/>
                <a:ea typeface="Meiryo"/>
                <a:cs typeface="Meiryo"/>
              </a:rPr>
              <a:t>6　</a:t>
            </a:r>
            <a:r>
              <a:rPr sz="2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困ったとき（よくある質問）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60120"/>
          <a:ext cx="1124711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955279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F3A5F"/>
                          </a:solidFill>
                          <a:latin typeface="Meiryo"/>
                          <a:ea typeface="Meiryo"/>
                          <a:cs typeface="Meiryo"/>
                        </a:rPr>
                        <a:t>こんなとき</a:t>
                      </a:r>
                    </a:p>
                  </a:txBody>
                  <a:tcPr marL="73152" marR="54864" marT="27432" marB="27432" anchor="ctr">
                    <a:solidFill>
                      <a:srgbClr val="E8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F3A5F"/>
                          </a:solidFill>
                          <a:latin typeface="Meiryo"/>
                          <a:ea typeface="Meiryo"/>
                          <a:cs typeface="Meiryo"/>
                        </a:rPr>
                        <a:t>対処</a:t>
                      </a:r>
                    </a:p>
                  </a:txBody>
                  <a:tcPr marL="73152" marR="54864" marT="27432" marB="27432" anchor="ctr">
                    <a:solidFill>
                      <a:srgbClr val="E8EE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ログインできない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メール・パスワードを確認。忘れた場合はログイン画面「パスワードをお忘れの方はこちら」から再設定。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承認依頼ボタンが押せない／出ない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生徒に保護者がついていない可能性。手順2で紐づけてください（当月分のみ操作可）。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保存できない（報告書）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指導時間数が0.5時間（30分）単位になっていません。休憩で調整してください。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差戻しできない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差戻しには理由（コメント）の入力が必要です。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同じ人が受付と再鑑を両方できない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公正のため、同じ報告書では受付した人は再鑑できません（逆も同様）。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ctr"/>
            <a:r>
              <a:rPr sz="2200" b="1">
                <a:solidFill>
                  <a:srgbClr val="93C5FD"/>
                </a:solidFill>
                <a:latin typeface="Meiryo"/>
                <a:ea typeface="Meiryo"/>
                <a:cs typeface="Meiryo"/>
              </a:rPr>
              <a:t>7　</a:t>
            </a:r>
            <a:r>
              <a:rPr sz="2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当システムのルール（大切な約束）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1.　承認は決まった順番：講師 → 保護者 → 受付 → 再鑑 → 管理者（最終承認）。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2.　差戻し（修正のお願い）には必ず理由（コメント）を入力。差し戻すと一つ前の人へ戻ります。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3.　生徒に保護者がついていないと、講師は承認依頼ができません（先に紐づけが必要）。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4.　報告書の時刻は5分単位、指導時間数は0.5時間（30分）単位で記録します。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5.　報告書の内容を修正できるのは「受付」だけ（修正すると講師・保護者へ通知）。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6.　公正のため、同じ報告書で「受付」と「再鑑」を同じ人が兼ねることはできません。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7.　操作できるのは当月分の報告書です（過去月は参照のみ）。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F2937"/>
                </a:solidFill>
                <a:latin typeface="Meiryo"/>
                <a:ea typeface="Meiryo"/>
                <a:cs typeface="Meiryo"/>
              </a:rPr>
              <a:t>8.　招待メールのリンクは72時間で期限切れになります。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/>
          <a:lstStyle/>
          <a:p>
            <a:pPr algn="ctr"/>
            <a:r>
              <a:rPr sz="2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付録：デモ用アカウント一覧（お試し用）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6012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572000"/>
                <a:gridCol w="46634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3A5F"/>
                          </a:solidFill>
                          <a:latin typeface="Meiryo"/>
                          <a:ea typeface="Meiryo"/>
                          <a:cs typeface="Meiryo"/>
                        </a:rPr>
                        <a:t>役割</a:t>
                      </a:r>
                    </a:p>
                  </a:txBody>
                  <a:tcPr marL="73152" marR="54864" marT="27432" marB="27432" anchor="ctr">
                    <a:solidFill>
                      <a:srgbClr val="E8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3A5F"/>
                          </a:solidFill>
                          <a:latin typeface="Meiryo"/>
                          <a:ea typeface="Meiryo"/>
                          <a:cs typeface="Meiryo"/>
                        </a:rPr>
                        <a:t>メールアドレス</a:t>
                      </a:r>
                    </a:p>
                  </a:txBody>
                  <a:tcPr marL="73152" marR="54864" marT="27432" marB="27432" anchor="ctr">
                    <a:solidFill>
                      <a:srgbClr val="E8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3A5F"/>
                          </a:solidFill>
                          <a:latin typeface="Meiryo"/>
                          <a:ea typeface="Meiryo"/>
                          <a:cs typeface="Meiryo"/>
                        </a:rPr>
                        <a:t>できること</a:t>
                      </a:r>
                    </a:p>
                  </a:txBody>
                  <a:tcPr marL="73152" marR="54864" marT="27432" marB="27432" anchor="ctr">
                    <a:solidFill>
                      <a:srgbClr val="E8EE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管理者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master1@example.com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ユーザ作成・紐づけ・最終承認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講師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tutor1@example.com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報告書の作成・承認依頼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保護者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parent1@example.com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報告書の承認・差戻し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受付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receiver1@example.com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受付承認・修正・差戻し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再鑑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reviewer1@example.com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Meiryo"/>
                          <a:ea typeface="Meiryo"/>
                          <a:cs typeface="Meiryo"/>
                        </a:rPr>
                        <a:t>再鑑承認・差戻し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02336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F2937"/>
                </a:solidFill>
                <a:latin typeface="Meiryo"/>
                <a:ea typeface="Meiryo"/>
                <a:cs typeface="Meiryo"/>
              </a:rPr>
              <a:t>※ パスワードはすべて共通：Passw0rd!（お試し環境用）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2563EB"/>
                </a:solidFill>
                <a:latin typeface="Meiryo"/>
                <a:ea typeface="Meiryo"/>
                <a:cs typeface="Meiryo"/>
              </a:rPr>
              <a:t>おすすめのお試し順：①管理者で紐づけ確認 → ②講師で報告書作成・承認依頼 → ③保護者で承認 → ④受付→再鑑→管理者の順に承認（「完了」まで体験）。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